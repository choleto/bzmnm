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2205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EC490"/>
          </a:solidFill>
          <a:ln w="12700">
            <a:solidFill>
              <a:srgbClr val="3EC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2D9B6F">
              <a:alpha val="25000"/>
            </a:srgbClr>
          </a:solidFill>
          <a:ln w="12700">
            <a:solidFill>
              <a:srgbClr val="2D9B6F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1828800" cy="1828800"/>
          </a:xfrm>
          <a:prstGeom prst="ellipse">
            <a:avLst/>
          </a:prstGeom>
          <a:solidFill>
            <a:srgbClr val="3EC490">
              <a:alpha val="15000"/>
            </a:srgbClr>
          </a:solidFill>
          <a:ln w="12700">
            <a:solidFill>
              <a:srgbClr val="3EC490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101796"/>
            <a:ext cx="2286000" cy="2286000"/>
          </a:xfrm>
          <a:prstGeom prst="ellipse">
            <a:avLst/>
          </a:prstGeom>
          <a:solidFill>
            <a:srgbClr val="3EC490">
              <a:alpha val="20000"/>
            </a:srgbClr>
          </a:solidFill>
          <a:ln w="12700">
            <a:solidFill>
              <a:srgbClr val="3EC490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320040"/>
            <a:ext cx="2377440" cy="320040"/>
          </a:xfrm>
          <a:prstGeom prst="rect">
            <a:avLst/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20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FFFFFF"/>
                </a:solidFill>
              </a:rPr>
              <a:t>CODE FOR CARE HACKATHON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0058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1417320" y="100584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3EC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Clother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320040" y="21488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4E8D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Wear Smart. Waste Less. Care More.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5176" y="44577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kern="0" spc="300" dirty="0">
                <a:solidFill>
                  <a:srgbClr val="8898A8"/>
                </a:solidFill>
              </a:rPr>
              <a:t>BZMNM</a:t>
            </a:r>
            <a:endParaRPr lang="en-US" sz="28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5943600" y="109728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EC490"/>
          </a:solidFill>
          <a:ln w="12700">
            <a:solidFill>
              <a:srgbClr val="3EC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69202"/>
            <a:ext cx="8595360" cy="77724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1051560"/>
          </a:xfrm>
          <a:prstGeom prst="rect">
            <a:avLst/>
          </a:prstGeom>
          <a:noFill/>
          <a:ln/>
        </p:spPr>
        <p:txBody>
          <a:bodyPr wrap="square" lIns="0" tIns="25400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EC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ПРОБЛЕМЪТ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46520" y="2514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25400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5DF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Left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834640" cy="1371600"/>
          </a:xfrm>
          <a:prstGeom prst="rect">
            <a:avLst/>
          </a:prstGeom>
          <a:solidFill>
            <a:srgbClr val="1A2E3B"/>
          </a:solidFill>
          <a:ln w="12700">
            <a:solidFill>
              <a:srgbClr val="2D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325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💧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77796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DF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2,700L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E8DE"/>
                </a:solidFill>
              </a:rPr>
              <a:t>вода за 1 памучна тениска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82696" y="1280160"/>
            <a:ext cx="2834640" cy="1371600"/>
          </a:xfrm>
          <a:prstGeom prst="rect">
            <a:avLst/>
          </a:prstGeom>
          <a:solidFill>
            <a:srgbClr val="1A2E3B"/>
          </a:solidFill>
          <a:ln w="12700">
            <a:solidFill>
              <a:srgbClr val="2D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325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🗑️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91840" y="1783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DF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92M </a:t>
            </a:r>
            <a:r>
              <a:rPr lang="bg-BG" sz="2600" b="1" dirty="0">
                <a:solidFill>
                  <a:srgbClr val="5DF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тона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10128" y="2194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E8DE"/>
                </a:solidFill>
              </a:rPr>
              <a:t>текстил изхвърлен годишно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1280160"/>
            <a:ext cx="2606040" cy="1371600"/>
          </a:xfrm>
          <a:prstGeom prst="rect">
            <a:avLst/>
          </a:prstGeom>
          <a:solidFill>
            <a:srgbClr val="1A2E3B"/>
          </a:solidFill>
          <a:ln w="12700">
            <a:solidFill>
              <a:srgbClr val="2D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53912" y="136648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👗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99632" y="18059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5DF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172200" y="21717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E8DE"/>
                </a:solidFill>
              </a:rPr>
              <a:t>дрехи, неносени никога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2834640"/>
            <a:ext cx="8595360" cy="196596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26080"/>
            <a:ext cx="8138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Всеки ден тонове дрехи биват изхвърлени, докато едни нямат достъп до базови нужди.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Съществуват онлайн гардероби – но нито един не е насочен реално към намаляване на разхищението.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 algn="just">
              <a:buNone/>
            </a:pPr>
            <a:r>
              <a:rPr lang="en-US" dirty="0">
                <a:solidFill>
                  <a:schemeClr val="bg1">
                    <a:lumMod val="85000"/>
                  </a:scheme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Никой не прави връзката между неносените дрехи и хората, на които биха помогнали.</a:t>
            </a:r>
            <a:endParaRPr 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pic>
        <p:nvPicPr>
          <p:cNvPr id="20" name="Google Shape;138;p11" descr="preencoded.png">
            <a:extLst>
              <a:ext uri="{FF2B5EF4-FFF2-40B4-BE49-F238E27FC236}">
                <a16:creationId xmlns:a16="http://schemas.microsoft.com/office/drawing/2014/main" id="{CC722A72-F224-4DF0-8216-AD74DAA565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27832" y="154901"/>
            <a:ext cx="1771438" cy="10515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EC490"/>
          </a:solidFill>
          <a:ln w="12700">
            <a:solidFill>
              <a:srgbClr val="3EC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EC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НАШАТА МИСИЯ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4864" cy="1828800"/>
          </a:xfrm>
          <a:prstGeom prst="rect">
            <a:avLst/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63410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Купуваме дрехи, не ги носим, после ги захвърляме – а те биха направили нечий ден по-добър.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2377440"/>
            <a:ext cx="2788920" cy="2468880"/>
          </a:xfrm>
          <a:prstGeom prst="rect">
            <a:avLst/>
          </a:prstGeom>
          <a:solidFill>
            <a:srgbClr val="1A2E3B"/>
          </a:solidFill>
          <a:ln w="12700">
            <a:solidFill>
              <a:srgbClr val="2D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274320" y="2377440"/>
            <a:ext cx="2788920" cy="64008"/>
          </a:xfrm>
          <a:prstGeom prst="rect">
            <a:avLst/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2530620"/>
            <a:ext cx="321950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🌱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6032" y="338771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C490"/>
                </a:solidFill>
              </a:rPr>
              <a:t>Околна среда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9184" y="3812877"/>
            <a:ext cx="2788920" cy="91440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E8DE"/>
                </a:solidFill>
              </a:rPr>
              <a:t>Намаляваме текстилния отпадък и замърсяването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46120" y="2377440"/>
            <a:ext cx="2788920" cy="2468880"/>
          </a:xfrm>
          <a:prstGeom prst="rect">
            <a:avLst/>
          </a:prstGeom>
          <a:solidFill>
            <a:srgbClr val="1A2E3B"/>
          </a:solidFill>
          <a:ln w="12700">
            <a:solidFill>
              <a:srgbClr val="2D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2377440"/>
            <a:ext cx="2788920" cy="64008"/>
          </a:xfrm>
          <a:prstGeom prst="rect">
            <a:avLst/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2656964"/>
            <a:ext cx="2752344" cy="79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🤝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46120" y="33993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EC490"/>
                </a:solidFill>
              </a:rPr>
              <a:t>Хора в нужда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314632" y="3812877"/>
            <a:ext cx="2788920" cy="91440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E8DE"/>
                </a:solidFill>
              </a:rPr>
              <a:t>Свързваме ненужни дрехи с хора, на които ще помогнат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2374710"/>
            <a:ext cx="2788920" cy="2468880"/>
          </a:xfrm>
          <a:prstGeom prst="rect">
            <a:avLst/>
          </a:prstGeom>
          <a:solidFill>
            <a:srgbClr val="1A2E3B"/>
          </a:solidFill>
          <a:ln w="12700">
            <a:solidFill>
              <a:srgbClr val="2D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377440"/>
            <a:ext cx="2788920" cy="64008"/>
          </a:xfrm>
          <a:prstGeom prst="rect">
            <a:avLst/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736360"/>
            <a:ext cx="2788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217920" y="342627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EC490"/>
                </a:solidFill>
              </a:rPr>
              <a:t>Осъзнато потребление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58864" y="3812877"/>
            <a:ext cx="2788920" cy="914400"/>
          </a:xfrm>
          <a:prstGeom prst="rect">
            <a:avLst/>
          </a:prstGeom>
          <a:noFill/>
          <a:ln/>
        </p:spPr>
        <p:txBody>
          <a:bodyPr wrap="square" lIns="0" tIns="127000" rIns="12700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E8DE"/>
                </a:solidFill>
              </a:rPr>
              <a:t>Помагаме да пазаруваш по-умно, не повече</a:t>
            </a:r>
            <a:endParaRPr lang="en-US" sz="1400" dirty="0"/>
          </a:p>
        </p:txBody>
      </p:sp>
      <p:pic>
        <p:nvPicPr>
          <p:cNvPr id="21" name="Google Shape;133;p11" descr="preencoded.png">
            <a:extLst>
              <a:ext uri="{FF2B5EF4-FFF2-40B4-BE49-F238E27FC236}">
                <a16:creationId xmlns:a16="http://schemas.microsoft.com/office/drawing/2014/main" id="{1C976023-AF47-44FB-9C2D-7E4FB17810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11766" y="-3611"/>
            <a:ext cx="2467642" cy="2264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EC490"/>
          </a:solidFill>
          <a:ln w="12700">
            <a:solidFill>
              <a:srgbClr val="3EC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EC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НАШЕТО РЕШЕНИЕ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265176" y="919791"/>
            <a:ext cx="4114800" cy="3931920"/>
          </a:xfrm>
          <a:prstGeom prst="rect">
            <a:avLst/>
          </a:prstGeom>
          <a:solidFill>
            <a:srgbClr val="1A2E3B"/>
          </a:solidFill>
          <a:ln w="12700">
            <a:solidFill>
              <a:srgbClr val="1A2E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5DFFA8"/>
                </a:solidFill>
              </a:rPr>
              <a:t>Bio Clother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Онлайн платформа, в която дигитализираш гардероба си – достъпваш го отвсякъде, проследяваш кога си носил дадена дреха и никога повече не забравяш какво имаш.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971800"/>
            <a:ext cx="3931920" cy="777240"/>
          </a:xfrm>
          <a:prstGeom prst="rect">
            <a:avLst/>
          </a:prstGeom>
          <a:solidFill>
            <a:srgbClr val="2D9B6F">
              <a:alpha val="80000"/>
            </a:srgbClr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296838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⏰  Дреха неносена 30 дни → Напомняне!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4E8DE"/>
                </a:solidFill>
              </a:rPr>
              <a:t>Носи отново или я дари – с 1 клик.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923544"/>
            <a:ext cx="4297680" cy="822960"/>
          </a:xfrm>
          <a:prstGeom prst="rect">
            <a:avLst/>
          </a:prstGeom>
          <a:solidFill>
            <a:srgbClr val="1A2E3B"/>
          </a:solidFill>
          <a:ln w="12700">
            <a:solidFill>
              <a:srgbClr val="2D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63440" y="9144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👕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303520" y="10196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C490"/>
                </a:solidFill>
              </a:rPr>
              <a:t>Виртуален гардероб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130759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8DE"/>
                </a:solidFill>
              </a:rPr>
              <a:t>Добавяй и организирай дрехи онлайн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874520"/>
            <a:ext cx="4297680" cy="822960"/>
          </a:xfrm>
          <a:prstGeom prst="rect">
            <a:avLst/>
          </a:prstGeom>
          <a:solidFill>
            <a:srgbClr val="1A2E3B"/>
          </a:solidFill>
          <a:ln w="12700">
            <a:solidFill>
              <a:srgbClr val="2D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8745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303520" y="19659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C490"/>
                </a:solidFill>
              </a:rPr>
              <a:t>Проследяване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0" y="2267507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8DE"/>
                </a:solidFill>
              </a:rPr>
              <a:t>Кога последно си носил дадена дреха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2834640"/>
            <a:ext cx="4297680" cy="822960"/>
          </a:xfrm>
          <a:prstGeom prst="rect">
            <a:avLst/>
          </a:prstGeom>
          <a:solidFill>
            <a:srgbClr val="1A2E3B"/>
          </a:solidFill>
          <a:ln w="12700">
            <a:solidFill>
              <a:srgbClr val="2D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28346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🔔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303520" y="28803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C490"/>
                </a:solidFill>
              </a:rPr>
              <a:t>Напомняния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3520" y="320497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8DE"/>
                </a:solidFill>
              </a:rPr>
              <a:t>За забравени и залежали дрехи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3817620"/>
            <a:ext cx="4297680" cy="822960"/>
          </a:xfrm>
          <a:prstGeom prst="rect">
            <a:avLst/>
          </a:prstGeom>
          <a:solidFill>
            <a:srgbClr val="1A2E3B"/>
          </a:solidFill>
          <a:ln w="12700">
            <a:solidFill>
              <a:srgbClr val="2D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663440" y="37947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✨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303520" y="38587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EC490"/>
                </a:solidFill>
              </a:rPr>
              <a:t>Outfit комбинации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303520" y="416052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E8DE"/>
                </a:solidFill>
              </a:rPr>
              <a:t>По-лесно планиране на визии</a:t>
            </a:r>
            <a:endParaRPr lang="en-US" sz="1200" dirty="0"/>
          </a:p>
        </p:txBody>
      </p:sp>
      <p:pic>
        <p:nvPicPr>
          <p:cNvPr id="26" name="Google Shape;147;p11" descr="preencoded.png">
            <a:extLst>
              <a:ext uri="{FF2B5EF4-FFF2-40B4-BE49-F238E27FC236}">
                <a16:creationId xmlns:a16="http://schemas.microsoft.com/office/drawing/2014/main" id="{4DE05688-FDCB-4200-AA59-7CA21BB5FAE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47669" y="3635376"/>
            <a:ext cx="1782318" cy="1500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EC490"/>
          </a:solidFill>
          <a:ln w="12700">
            <a:solidFill>
              <a:srgbClr val="3EC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2743200" y="2651760"/>
            <a:ext cx="3657600" cy="64008"/>
          </a:xfrm>
          <a:prstGeom prst="rect">
            <a:avLst/>
          </a:prstGeom>
          <a:solidFill>
            <a:srgbClr val="3EC490"/>
          </a:solidFill>
          <a:ln w="12700">
            <a:solidFill>
              <a:srgbClr val="3EC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3EC49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Виж BioClother в действие 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3931920"/>
            <a:ext cx="731520" cy="731520"/>
          </a:xfrm>
          <a:prstGeom prst="ellipse">
            <a:avLst/>
          </a:prstGeom>
          <a:solidFill>
            <a:srgbClr val="2D9B6F"/>
          </a:solidFill>
          <a:ln w="12700">
            <a:solidFill>
              <a:srgbClr val="3EC4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👕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709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E8DE"/>
                </a:solidFill>
              </a:rPr>
              <a:t>Гардероб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3931920"/>
            <a:ext cx="731520" cy="731520"/>
          </a:xfrm>
          <a:prstGeom prst="ellipse">
            <a:avLst/>
          </a:prstGeom>
          <a:solidFill>
            <a:srgbClr val="2D9B6F"/>
          </a:solidFill>
          <a:ln w="12700">
            <a:solidFill>
              <a:srgbClr val="3EC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17520" y="4709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E8DE"/>
                </a:solidFill>
              </a:rPr>
              <a:t>Карта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0" y="3931920"/>
            <a:ext cx="731520" cy="731520"/>
          </a:xfrm>
          <a:prstGeom prst="ellipse">
            <a:avLst/>
          </a:prstGeom>
          <a:solidFill>
            <a:srgbClr val="2D9B6F"/>
          </a:solidFill>
          <a:ln w="12700">
            <a:solidFill>
              <a:srgbClr val="3EC4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0" y="4709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E8DE"/>
                </a:solidFill>
              </a:rPr>
              <a:t>Напомняния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132320" y="3931920"/>
            <a:ext cx="731520" cy="731520"/>
          </a:xfrm>
          <a:prstGeom prst="ellipse">
            <a:avLst/>
          </a:prstGeom>
          <a:solidFill>
            <a:srgbClr val="2D9B6F"/>
          </a:solidFill>
          <a:ln w="12700">
            <a:solidFill>
              <a:srgbClr val="3EC4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949440" y="4709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E8DE"/>
                </a:solidFill>
              </a:rPr>
              <a:t>Аутфити</a:t>
            </a:r>
            <a:endParaRPr lang="en-US" sz="1000" dirty="0"/>
          </a:p>
        </p:txBody>
      </p:sp>
      <p:pic>
        <p:nvPicPr>
          <p:cNvPr id="18" name="Google Shape;146;p11" descr="preencoded.png">
            <a:extLst>
              <a:ext uri="{FF2B5EF4-FFF2-40B4-BE49-F238E27FC236}">
                <a16:creationId xmlns:a16="http://schemas.microsoft.com/office/drawing/2014/main" id="{BE703995-77A0-40B3-A25E-F275AD9443B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4238" y="196215"/>
            <a:ext cx="1023938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EC490"/>
          </a:solidFill>
          <a:ln w="12700">
            <a:solidFill>
              <a:srgbClr val="3EC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6220" y="263652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C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ТЕХНОЛОГИИ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645920" cy="320040"/>
          </a:xfrm>
          <a:prstGeom prst="rect">
            <a:avLst/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FRONTEND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743200" cy="1554480"/>
          </a:xfrm>
          <a:prstGeom prst="rect">
            <a:avLst/>
          </a:prstGeom>
          <a:solidFill>
            <a:srgbClr val="1A2E3B"/>
          </a:solidFill>
          <a:ln w="12700">
            <a:solidFill>
              <a:srgbClr val="2D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463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🌐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HTML5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4320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8DE"/>
                </a:solidFill>
              </a:rPr>
              <a:t>Структура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1371600"/>
            <a:ext cx="2743200" cy="1554480"/>
          </a:xfrm>
          <a:prstGeom prst="rect">
            <a:avLst/>
          </a:prstGeom>
          <a:solidFill>
            <a:srgbClr val="1A2E3B"/>
          </a:solidFill>
          <a:ln w="12700">
            <a:solidFill>
              <a:srgbClr val="2D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154680" y="1463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🎨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15468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54680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8DE"/>
                </a:solidFill>
              </a:rPr>
              <a:t>Стил &amp; Анимации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743200" cy="1554480"/>
          </a:xfrm>
          <a:prstGeom prst="rect">
            <a:avLst/>
          </a:prstGeom>
          <a:solidFill>
            <a:srgbClr val="1A2E3B"/>
          </a:solidFill>
          <a:ln w="12700">
            <a:solidFill>
              <a:srgbClr val="2D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4630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03504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JavaScript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035040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8DE"/>
                </a:solidFill>
              </a:rPr>
              <a:t>Интерактивност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3108960"/>
            <a:ext cx="1645920" cy="320040"/>
          </a:xfrm>
          <a:prstGeom prst="rect">
            <a:avLst/>
          </a:prstGeom>
          <a:solidFill>
            <a:srgbClr val="5DFFA8"/>
          </a:solidFill>
          <a:ln w="12700">
            <a:solidFill>
              <a:srgbClr val="5DF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108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D1B2A"/>
                </a:solidFill>
              </a:rPr>
              <a:t>BACKEND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520440"/>
            <a:ext cx="4251960" cy="1325880"/>
          </a:xfrm>
          <a:prstGeom prst="rect">
            <a:avLst/>
          </a:prstGeom>
          <a:solidFill>
            <a:srgbClr val="1A2E3B"/>
          </a:solidFill>
          <a:ln w="12700">
            <a:solidFill>
              <a:srgbClr val="5DF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" y="356616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🐍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274320" y="418795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Flask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4320" y="4526280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8DE"/>
                </a:solidFill>
              </a:rPr>
              <a:t>Python Backend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520440"/>
            <a:ext cx="4251960" cy="1325880"/>
          </a:xfrm>
          <a:prstGeom prst="rect">
            <a:avLst/>
          </a:prstGeom>
          <a:solidFill>
            <a:srgbClr val="1A2E3B"/>
          </a:solidFill>
          <a:ln w="12700">
            <a:solidFill>
              <a:srgbClr val="5DF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3566160"/>
            <a:ext cx="4251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🗄️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4663440" y="418795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PostgreSQL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63440" y="4526280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8DE"/>
                </a:solidFill>
              </a:rPr>
              <a:t>База данни</a:t>
            </a:r>
            <a:endParaRPr lang="en-US" sz="1100" dirty="0"/>
          </a:p>
        </p:txBody>
      </p:sp>
      <p:pic>
        <p:nvPicPr>
          <p:cNvPr id="28" name="Google Shape;131;p11" descr="preencoded.png">
            <a:extLst>
              <a:ext uri="{FF2B5EF4-FFF2-40B4-BE49-F238E27FC236}">
                <a16:creationId xmlns:a16="http://schemas.microsoft.com/office/drawing/2014/main" id="{6F0EAC3F-D140-45CA-8585-95AA6DE744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97887" y="2003107"/>
            <a:ext cx="1537146" cy="16743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EC490"/>
          </a:solidFill>
          <a:ln w="12700">
            <a:solidFill>
              <a:srgbClr val="3EC4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0" y="-914400"/>
            <a:ext cx="5486400" cy="5486400"/>
          </a:xfrm>
          <a:prstGeom prst="ellipse">
            <a:avLst/>
          </a:prstGeom>
          <a:solidFill>
            <a:srgbClr val="2D9B6F">
              <a:alpha val="12000"/>
            </a:srgbClr>
          </a:solidFill>
          <a:ln w="12700">
            <a:solidFill>
              <a:srgbClr val="2D9B6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D4E8D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CODE FOR CARE 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22376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3EC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СЕ ВПИСВАМЕ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99022" y="1600200"/>
            <a:ext cx="8595360" cy="960120"/>
          </a:xfrm>
          <a:prstGeom prst="rect">
            <a:avLst/>
          </a:prstGeom>
          <a:solidFill>
            <a:srgbClr val="1A2E3B"/>
          </a:solidFill>
          <a:ln w="12700">
            <a:solidFill>
              <a:srgbClr val="2D9B6F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00200"/>
            <a:ext cx="54864" cy="960120"/>
          </a:xfrm>
          <a:prstGeom prst="rect">
            <a:avLst/>
          </a:prstGeom>
          <a:solidFill>
            <a:srgbClr val="2D9B6F"/>
          </a:solidFill>
          <a:ln w="12700">
            <a:solidFill>
              <a:srgbClr val="2D9B6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002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🌿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16152" y="1632204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Грижа за планетата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16152" y="20574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E8DE"/>
                </a:solidFill>
              </a:rPr>
              <a:t>Намаляваме текстилния отпадък — всяка дреха, носена повече, означава по-малко замърсяване.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2697480"/>
            <a:ext cx="8595360" cy="960120"/>
          </a:xfrm>
          <a:prstGeom prst="rect">
            <a:avLst/>
          </a:prstGeom>
          <a:solidFill>
            <a:srgbClr val="1A2E3B"/>
          </a:solidFill>
          <a:ln w="12700">
            <a:solidFill>
              <a:srgbClr val="4A9E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697480"/>
            <a:ext cx="54864" cy="960120"/>
          </a:xfrm>
          <a:prstGeom prst="rect">
            <a:avLst/>
          </a:prstGeom>
          <a:solidFill>
            <a:srgbClr val="4A9EE8"/>
          </a:solidFill>
          <a:ln w="12700">
            <a:solidFill>
              <a:srgbClr val="4A9E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69748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💙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216152" y="2745179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Грижа за хората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16152" y="3147515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E8DE"/>
                </a:solidFill>
              </a:rPr>
              <a:t>Картата директно свързва ненужните ти дрехи с хора, кошове и организации, на които ще помогнат.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74320" y="3794760"/>
            <a:ext cx="8595360" cy="960120"/>
          </a:xfrm>
          <a:prstGeom prst="rect">
            <a:avLst/>
          </a:prstGeom>
          <a:solidFill>
            <a:srgbClr val="1A2E3B"/>
          </a:solidFill>
          <a:ln w="12700">
            <a:solidFill>
              <a:srgbClr val="5DFF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794760"/>
            <a:ext cx="54864" cy="960120"/>
          </a:xfrm>
          <a:prstGeom prst="rect">
            <a:avLst/>
          </a:prstGeom>
          <a:solidFill>
            <a:srgbClr val="5DFFA8"/>
          </a:solidFill>
          <a:ln w="12700">
            <a:solidFill>
              <a:srgbClr val="5DFF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79476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🧩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216152" y="3832497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Грижа за навиците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216152" y="422725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E8DE"/>
                </a:solidFill>
              </a:rPr>
              <a:t>Помагаме да пазаруваш с </a:t>
            </a:r>
            <a:r>
              <a:rPr lang="bg-BG" sz="1600" dirty="0">
                <a:solidFill>
                  <a:srgbClr val="D4E8DE"/>
                </a:solidFill>
              </a:rPr>
              <a:t>по-организарано </a:t>
            </a:r>
            <a:r>
              <a:rPr lang="en-US" sz="1600" dirty="0">
                <a:solidFill>
                  <a:srgbClr val="D4E8DE"/>
                </a:solidFill>
              </a:rPr>
              <a:t>– знаеш какво имаш, харчиш по-малко, живееш по-осъзнато.</a:t>
            </a:r>
            <a:endParaRPr lang="en-US" sz="1600" dirty="0"/>
          </a:p>
        </p:txBody>
      </p:sp>
      <p:pic>
        <p:nvPicPr>
          <p:cNvPr id="21" name="Google Shape;145;p11" descr="preencoded.png">
            <a:extLst>
              <a:ext uri="{FF2B5EF4-FFF2-40B4-BE49-F238E27FC236}">
                <a16:creationId xmlns:a16="http://schemas.microsoft.com/office/drawing/2014/main" id="{E2DA4C7E-99E3-48FF-BA02-499000E01D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45864" y="88847"/>
            <a:ext cx="1804988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32;p11" descr="preencoded.png">
            <a:extLst>
              <a:ext uri="{FF2B5EF4-FFF2-40B4-BE49-F238E27FC236}">
                <a16:creationId xmlns:a16="http://schemas.microsoft.com/office/drawing/2014/main" id="{44D0D580-49F1-44D4-AD23-84AF65C0642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8135" y="239713"/>
            <a:ext cx="2057019" cy="1586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37;p11" descr="preencoded.png">
            <a:extLst>
              <a:ext uri="{FF2B5EF4-FFF2-40B4-BE49-F238E27FC236}">
                <a16:creationId xmlns:a16="http://schemas.microsoft.com/office/drawing/2014/main" id="{5BCA8320-AC8F-4AA8-8E3D-C61B62FC3D1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11884" y="276257"/>
            <a:ext cx="1589791" cy="1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9B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1B2A">
              <a:alpha val="20000"/>
            </a:srgbClr>
          </a:solidFill>
          <a:ln w="12700">
            <a:solidFill>
              <a:srgbClr val="0D1B2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0D1B2A">
              <a:alpha val="20000"/>
            </a:srgbClr>
          </a:solidFill>
          <a:ln w="12700">
            <a:solidFill>
              <a:srgbClr val="0D1B2A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 Smart.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Less.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More.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743200" y="3520440"/>
            <a:ext cx="3657600" cy="54864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1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BioClother  ·  BZMNM  ·  Code for Care Hackathon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D1B2A"/>
                </a:solidFill>
              </a:rPr>
              <a:t>🌍  Заедно можем да направим модата устойчива.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356</Words>
  <Application>Microsoft Office PowerPoint</Application>
  <PresentationFormat>On-screen Show (16:9)</PresentationFormat>
  <Paragraphs>99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BioClother – Code for Care</dc:title>
  <dc:subject>PptxGenJS Presentation</dc:subject>
  <dc:creator>PptxGenJS</dc:creator>
  <cp:lastModifiedBy>Петър Бояджиев</cp:lastModifiedBy>
  <cp:revision>8</cp:revision>
  <dcterms:created xsi:type="dcterms:W3CDTF">2026-03-27T10:47:57Z</dcterms:created>
  <dcterms:modified xsi:type="dcterms:W3CDTF">2026-03-27T13:12:51Z</dcterms:modified>
</cp:coreProperties>
</file>